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dPt>
            <c:idx val="0"/>
            <c:spPr>
              <a:solidFill>
                <a:srgbClr val="7F7F7F"/>
              </a:solidFill>
            </c:spPr>
          </c:dPt>
          <c:dPt>
            <c:idx val="1"/>
            <c:spPr>
              <a:solidFill>
                <a:srgbClr val="E8A33D"/>
              </a:solidFill>
            </c:spPr>
          </c:dPt>
          <c:dPt>
            <c:idx val="2"/>
            <c:spPr>
              <a:solidFill>
                <a:srgbClr val="D99694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cat>
            <c:strRef>
              <c:f>Sheet1!$A$2:$A$5</c:f>
              <c:strCache>
                <c:ptCount val="4"/>
                <c:pt idx="0">
                  <c:v>NONE
無防備</c:v>
                </c:pt>
                <c:pt idx="1">
                  <c:v>OBSERVE
観察学習</c:v>
                </c:pt>
                <c:pt idx="2">
                  <c:v>EXO
固定ゲート</c:v>
                </c:pt>
                <c:pt idx="3">
                  <c:v>ENDO
証明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27.2</c:v>
                </c:pt>
                <c:pt idx="1">
                  <c:v>17.3</c:v>
                </c:pt>
                <c:pt idx="2">
                  <c:v>10.2</c:v>
                </c:pt>
                <c:pt idx="3">
                  <c:v>0.0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100" b="1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666666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Meiryo U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dPt>
            <c:idx val="0"/>
            <c:spPr>
              <a:solidFill>
                <a:srgbClr val="7F7F7F"/>
              </a:solidFill>
            </c:spPr>
          </c:dPt>
          <c:dPt>
            <c:idx val="1"/>
            <c:spPr>
              <a:solidFill>
                <a:srgbClr val="8064A2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cat>
            <c:strRef>
              <c:f>Sheet1!$A$2:$A$4</c:f>
              <c:strCache>
                <c:ptCount val="3"/>
                <c:pt idx="0">
                  <c:v>NONE
死=消滅</c:v>
                </c:pt>
                <c:pt idx="1">
                  <c:v>REVIVE
死→復活</c:v>
                </c:pt>
                <c:pt idx="2">
                  <c:v>ENDO
証明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0.649</c:v>
                </c:pt>
                <c:pt idx="1">
                  <c:v>0.708</c:v>
                </c:pt>
                <c:pt idx="2">
                  <c:v>0.75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sz="1100" b="1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666666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78"/>
          <c:min val="0.6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Meiryo U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dPt>
            <c:idx val="0"/>
            <c:spPr>
              <a:solidFill>
                <a:srgbClr val="7F7F7F"/>
              </a:solidFill>
            </c:spPr>
          </c:dPt>
          <c:dPt>
            <c:idx val="1"/>
            <c:spPr>
              <a:solidFill>
                <a:srgbClr val="E8A33D"/>
              </a:solidFill>
            </c:spPr>
          </c:dPt>
          <c:dPt>
            <c:idx val="2"/>
            <c:spPr>
              <a:solidFill>
                <a:srgbClr val="8064A2"/>
              </a:solidFill>
            </c:spPr>
          </c:dPt>
          <c:dPt>
            <c:idx val="3"/>
            <c:spPr>
              <a:solidFill>
                <a:srgbClr val="9BBB59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cat>
            <c:strRef>
              <c:f>Sheet1!$A$2:$A$6</c:f>
              <c:strCache>
                <c:ptCount val="5"/>
                <c:pt idx="0">
                  <c:v>NONE</c:v>
                </c:pt>
                <c:pt idx="1">
                  <c:v>O</c:v>
                </c:pt>
                <c:pt idx="2">
                  <c:v>R</c:v>
                </c:pt>
                <c:pt idx="3">
                  <c:v>R+O</c:v>
                </c:pt>
                <c:pt idx="4">
                  <c:v>E 入り 4 組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27.2</c:v>
                </c:pt>
                <c:pt idx="1">
                  <c:v>17.3</c:v>
                </c:pt>
                <c:pt idx="2">
                  <c:v>18.8</c:v>
                </c:pt>
                <c:pt idx="3">
                  <c:v>6.2</c:v>
                </c:pt>
                <c:pt idx="4">
                  <c:v>0.0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100" b="1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666666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Meiryo UI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dPt>
            <c:idx val="0"/>
            <c:spPr>
              <a:solidFill>
                <a:srgbClr val="9BBB59"/>
              </a:solidFill>
            </c:spPr>
          </c:dPt>
          <c:dPt>
            <c:idx val="1"/>
            <c:spPr>
              <a:solidFill>
                <a:srgbClr val="D99694"/>
              </a:solidFill>
            </c:spPr>
          </c:dPt>
          <c:cat>
            <c:strRef>
              <c:f>Sheet1!$A$2:$A$3</c:f>
              <c:strCache>
                <c:ptCount val="2"/>
                <c:pt idx="0">
                  <c:v>GOOD 区間
(前提 正常)</c:v>
                </c:pt>
                <c:pt idx="1">
                  <c:v>BAD 区間
(前提 破壊)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0.91</c:v>
                </c:pt>
                <c:pt idx="1">
                  <c:v>0.51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1100" b="1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666666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Meiryo U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035040"/>
            <a:ext cx="12191695" cy="164592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1A1A1A"/>
                </a:solidFill>
                <a:latin typeface="Meiryo UI"/>
              </a:rPr>
              <a:t>自己進化 AI を「証明」で守る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108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4F81BD"/>
                </a:solidFill>
                <a:latin typeface="Meiryo UI"/>
              </a:rPr>
              <a:t>llcore 研究知見 2026 — 検証付きニューラル進化 (CPU 完結)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48056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66666"/>
                </a:solidFill>
                <a:latin typeface="Meiryo UI"/>
              </a:rPr>
              <a:t>Kazufumi Furuse</a:t>
            </a:r>
          </a:p>
          <a:p>
            <a:pPr algn="l"/>
            <a:r>
              <a:rPr sz="1600" b="0">
                <a:solidFill>
                  <a:srgbClr val="666666"/>
                </a:solidFill>
                <a:latin typeface="Meiryo UI"/>
              </a:rPr>
              <a:t>github.com/furuse-kazufumi/llcore (paper draft + 全実験コード/データ公開)</a:t>
            </a:r>
          </a:p>
          <a:p>
            <a:pPr algn="l"/>
            <a:r>
              <a:rPr sz="1600" b="0">
                <a:solidFill>
                  <a:srgbClr val="666666"/>
                </a:solidFill>
                <a:latin typeface="Meiryo UI"/>
              </a:rPr>
              <a:t>本スライド: CC BY 4.0 — 出典明示で商用利用可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6400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Meiryo UI"/>
              </a:rPr>
              <a:t>© 2026 Kazufumi Furuse — CC BY 4.0 | 出典: github.com/furuse-kazufumi/llcore | qiita.com/furuse-kazufumi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109728" cy="566928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A1A1A"/>
                </a:solidFill>
                <a:latin typeface="Meiryo UI"/>
              </a:rPr>
              <a:t>問題: 自己進化 AI は何を根拠に自分の変更を許可するか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55778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 b="0">
                <a:solidFill>
                  <a:srgbClr val="1A1A1A"/>
                </a:solidFill>
                <a:latin typeface="Meiryo UI"/>
              </a:rPr>
              <a:t>AI が自分のコア (記憶・力学) を書き換えながら進化する時代</a:t>
            </a:r>
          </a:p>
          <a:p>
            <a:pPr algn="l">
              <a:spcAft>
                <a:spcPts val="1200"/>
              </a:spcAft>
            </a:pPr>
            <a:r>
              <a:rPr sz="1700" b="0">
                <a:solidFill>
                  <a:srgbClr val="1A1A1A"/>
                </a:solidFill>
                <a:latin typeface="Meiryo UI"/>
              </a:rPr>
              <a:t>主流 (DGM / SEAL 系) = 経験的ゲート: スコアや過去の失敗で事後判定</a:t>
            </a:r>
          </a:p>
          <a:p>
            <a:pPr algn="l">
              <a:spcAft>
                <a:spcPts val="1200"/>
              </a:spcAft>
            </a:pPr>
            <a:r>
              <a:rPr sz="1700" b="0">
                <a:solidFill>
                  <a:srgbClr val="1A1A1A"/>
                </a:solidFill>
                <a:latin typeface="Meiryo UI"/>
              </a:rPr>
              <a:t>構造的弱点: ① 死んで学ぶ ② Goodhart 可能 (指標ハック)</a:t>
            </a:r>
          </a:p>
          <a:p>
            <a:pPr algn="l">
              <a:spcAft>
                <a:spcPts val="1200"/>
              </a:spcAft>
            </a:pPr>
            <a:r>
              <a:rPr sz="1700" b="0">
                <a:solidFill>
                  <a:srgbClr val="1A1A1A"/>
                </a:solidFill>
                <a:latin typeface="Meiryo UI"/>
              </a:rPr>
              <a:t>llcore: 性質を絞れば「数学的証明」が評価の前のゲートになる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0080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Meiryo UI"/>
              </a:rPr>
              <a:t>© 2026 Kazufumi Furuse — CC BY 4.0 | 出典: github.com/furuse-kazufumi/llcore | qiita.com/furuse-kazufumi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0" y="144475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66666"/>
                </a:solidFill>
                <a:latin typeface="Meiryo UI"/>
              </a:rPr>
              <a:t>経験的ゲート (DGM/SEAL 系)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1828800"/>
            <a:ext cx="1325880" cy="685800"/>
          </a:xfrm>
          <a:prstGeom prst="roundRect">
            <a:avLst/>
          </a:prstGeom>
          <a:solidFill>
            <a:srgbClr val="DCE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00" b="0">
                <a:solidFill>
                  <a:srgbClr val="1A1A1A"/>
                </a:solidFill>
                <a:latin typeface="Meiryo UI"/>
              </a:rPr>
              <a:t>変異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001000" y="2171700"/>
            <a:ext cx="274320" cy="0"/>
          </a:xfrm>
          <a:prstGeom prst="line">
            <a:avLst/>
          </a:prstGeom>
          <a:ln w="28575">
            <a:solidFill>
              <a:srgbClr val="666666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8275320" y="1828800"/>
            <a:ext cx="1325880" cy="685800"/>
          </a:xfrm>
          <a:prstGeom prst="roundRect">
            <a:avLst/>
          </a:prstGeom>
          <a:solidFill>
            <a:srgbClr val="D996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00" b="0">
                <a:solidFill>
                  <a:srgbClr val="1A1A1A"/>
                </a:solidFill>
                <a:latin typeface="Meiryo UI"/>
              </a:rPr>
              <a:t>評価 = 実行</a:t>
            </a:r>
            <a:br/>
            <a:r>
              <a:rPr sz="1100" b="0">
                <a:solidFill>
                  <a:srgbClr val="1A1A1A"/>
                </a:solidFill>
                <a:latin typeface="Meiryo UI"/>
              </a:rPr>
              <a:t>(死を被る)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9601200" y="2171700"/>
            <a:ext cx="274320" cy="0"/>
          </a:xfrm>
          <a:prstGeom prst="line">
            <a:avLst/>
          </a:prstGeom>
          <a:ln w="28575">
            <a:solidFill>
              <a:srgbClr val="666666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9875520" y="1828800"/>
            <a:ext cx="1325880" cy="685800"/>
          </a:xfrm>
          <a:prstGeom prst="roundRect">
            <a:avLst/>
          </a:prstGeom>
          <a:solidFill>
            <a:srgbClr val="D996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00" b="0">
                <a:solidFill>
                  <a:srgbClr val="1A1A1A"/>
                </a:solidFill>
                <a:latin typeface="Meiryo UI"/>
              </a:rPr>
              <a:t>事後スコア判定</a:t>
            </a:r>
            <a:br/>
            <a:r>
              <a:rPr sz="1100" b="0">
                <a:solidFill>
                  <a:srgbClr val="1A1A1A"/>
                </a:solidFill>
                <a:latin typeface="Meiryo UI"/>
              </a:rPr>
              <a:t>(Goodhart 可)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318211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F81BD"/>
                </a:solidFill>
                <a:latin typeface="Meiryo UI"/>
              </a:rPr>
              <a:t>証明ゲート (llcore)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75120" y="3566160"/>
            <a:ext cx="1325880" cy="685800"/>
          </a:xfrm>
          <a:prstGeom prst="roundRect">
            <a:avLst/>
          </a:prstGeom>
          <a:solidFill>
            <a:srgbClr val="DCE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00" b="0">
                <a:solidFill>
                  <a:srgbClr val="1A1A1A"/>
                </a:solidFill>
                <a:latin typeface="Meiryo UI"/>
              </a:rPr>
              <a:t>変異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001000" y="3909060"/>
            <a:ext cx="274320" cy="0"/>
          </a:xfrm>
          <a:prstGeom prst="line">
            <a:avLst/>
          </a:prstGeom>
          <a:ln w="28575">
            <a:solidFill>
              <a:srgbClr val="666666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275320" y="3566160"/>
            <a:ext cx="1325880" cy="685800"/>
          </a:xfrm>
          <a:prstGeom prst="round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00" b="1">
                <a:solidFill>
                  <a:srgbClr val="FFFFFF"/>
                </a:solidFill>
                <a:latin typeface="Meiryo UI"/>
              </a:rPr>
              <a:t>証明 ρ&lt;1</a:t>
            </a:r>
            <a:br/>
            <a:r>
              <a:rPr sz="1100" b="1">
                <a:solidFill>
                  <a:srgbClr val="FFFFFF"/>
                </a:solidFill>
                <a:latin typeface="Meiryo UI"/>
              </a:rPr>
              <a:t>(評価の前)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601200" y="3909060"/>
            <a:ext cx="274320" cy="0"/>
          </a:xfrm>
          <a:prstGeom prst="line">
            <a:avLst/>
          </a:prstGeom>
          <a:ln w="28575">
            <a:solidFill>
              <a:srgbClr val="666666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9875520" y="3566160"/>
            <a:ext cx="1325880" cy="685800"/>
          </a:xfrm>
          <a:prstGeom prst="roundRect">
            <a:avLst/>
          </a:prstGeom>
          <a:solidFill>
            <a:srgbClr val="9BBB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00" b="0">
                <a:solidFill>
                  <a:srgbClr val="1A1A1A"/>
                </a:solidFill>
                <a:latin typeface="Meiryo UI"/>
              </a:rPr>
              <a:t>評価</a:t>
            </a:r>
            <a:br/>
            <a:r>
              <a:rPr sz="1100" b="0">
                <a:solidFill>
                  <a:srgbClr val="1A1A1A"/>
                </a:solidFill>
                <a:latin typeface="Meiryo UI"/>
              </a:rPr>
              <a:t>(死なない)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4389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Meiryo UI"/>
              </a:rPr>
              <a:t>証明できない変更は評価前に却下 (fail-closed)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109728" cy="566928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A1A1A"/>
                </a:solidFill>
                <a:latin typeface="Meiryo UI"/>
              </a:rPr>
              <a:t>アプローチ: 健全な収縮証明ゲート (fail-closed)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55778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 b="0">
                <a:solidFill>
                  <a:srgbClr val="1A1A1A"/>
                </a:solidFill>
                <a:latin typeface="Meiryo UI"/>
              </a:rPr>
              <a:t>証明する性質 = 収縮 (ρ &lt; 1): 内部状態が発散しない</a:t>
            </a:r>
          </a:p>
          <a:p>
            <a:pPr algn="l">
              <a:spcAft>
                <a:spcPts val="1200"/>
              </a:spcAft>
            </a:pPr>
            <a:r>
              <a:rPr sz="1700" b="0">
                <a:solidFill>
                  <a:srgbClr val="1A1A1A"/>
                </a:solidFill>
                <a:latin typeface="Meiryo UI"/>
              </a:rPr>
              <a:t>証明は定理の帰結 = 捏造不能 (スコアと違いハックできない)</a:t>
            </a:r>
          </a:p>
          <a:p>
            <a:pPr algn="l">
              <a:spcAft>
                <a:spcPts val="1200"/>
              </a:spcAft>
            </a:pPr>
            <a:r>
              <a:rPr sz="1700" b="0">
                <a:solidFill>
                  <a:srgbClr val="1A1A1A"/>
                </a:solidFill>
                <a:latin typeface="Meiryo UI"/>
              </a:rPr>
              <a:t>進化ループ内・評価前に gate — 事後検証より 17-19 倍安い</a:t>
            </a:r>
          </a:p>
          <a:p>
            <a:pPr algn="l">
              <a:spcAft>
                <a:spcPts val="1200"/>
              </a:spcAft>
            </a:pPr>
            <a:r>
              <a:rPr sz="1700" b="0">
                <a:solidFill>
                  <a:srgbClr val="1A1A1A"/>
                </a:solidFill>
                <a:latin typeface="Meiryo UI"/>
              </a:rPr>
              <a:t>全実験は事前登録 → 結果の順。negative も全強度で開示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0080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Meiryo UI"/>
              </a:rPr>
              <a:t>© 2026 Kazufumi Furuse — CC BY 4.0 | 出典: github.com/furuse-kazufumi/llcore | qiita.com/furuse-kazufumi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0" y="1920240"/>
            <a:ext cx="3931920" cy="640080"/>
          </a:xfrm>
          <a:prstGeom prst="roundRect">
            <a:avLst/>
          </a:prstGeom>
          <a:solidFill>
            <a:srgbClr val="DCE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300" b="0">
                <a:solidFill>
                  <a:srgbClr val="1A1A1A"/>
                </a:solidFill>
                <a:latin typeface="Meiryo UI"/>
              </a:rPr>
              <a:t>閉形式 ∞-norm — O(n²)・ソルバ不要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78040" y="2788920"/>
            <a:ext cx="3931920" cy="640080"/>
          </a:xfrm>
          <a:prstGeom prst="roundRect">
            <a:avLst/>
          </a:prstGeom>
          <a:solidFill>
            <a:srgbClr val="DCE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300" b="0">
                <a:solidFill>
                  <a:srgbClr val="1A1A1A"/>
                </a:solidFill>
                <a:latin typeface="Meiryo UI"/>
              </a:rPr>
              <a:t>頂点 2-norm (SVD)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657600"/>
            <a:ext cx="3931920" cy="640080"/>
          </a:xfrm>
          <a:prstGeom prst="roundRect">
            <a:avLst/>
          </a:prstGeom>
          <a:solidFill>
            <a:srgbClr val="DCE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300" b="0">
                <a:solidFill>
                  <a:srgbClr val="1A1A1A"/>
                </a:solidFill>
                <a:latin typeface="Meiryo UI"/>
              </a:rPr>
              <a:t>Lyapunov SDP (CLARABEL)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06640" y="4617720"/>
            <a:ext cx="3931920" cy="640080"/>
          </a:xfrm>
          <a:prstGeom prst="round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300" b="1">
                <a:solidFill>
                  <a:srgbClr val="FFFFFF"/>
                </a:solidFill>
                <a:latin typeface="Meiryo UI"/>
              </a:rPr>
              <a:t>証明なし → 不採用 (fail-closed)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0840" y="16002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Meiryo UI"/>
              </a:rPr>
              <a:t>健全 certifier の 3 段ラダー (下ほど強い)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109728" cy="566928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A1A1A"/>
                </a:solidFill>
                <a:latin typeface="Meiryo UI"/>
              </a:rPr>
              <a:t>実験場: 死ねる環境 × 経験が記憶になる 3 つの道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55778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 b="0">
                <a:solidFill>
                  <a:srgbClr val="1A1A1A"/>
                </a:solidFill>
                <a:latin typeface="Meiryo UI"/>
              </a:rPr>
              <a:t>環境が再帰ゲイン κ を 2 倍にステップ → 旧安全個体が発散 = 死</a:t>
            </a:r>
          </a:p>
          <a:p>
            <a:pPr algn="l">
              <a:spcAft>
                <a:spcPts val="1200"/>
              </a:spcAft>
            </a:pPr>
            <a:r>
              <a:rPr sz="1700" b="0">
                <a:solidFill>
                  <a:srgbClr val="1A1A1A"/>
                </a:solidFill>
                <a:latin typeface="Meiryo UI"/>
              </a:rPr>
              <a:t>死は回避不能な実在の脅威 (入力側の工夫では逃げられない設計)</a:t>
            </a:r>
          </a:p>
          <a:p>
            <a:pPr algn="l">
              <a:spcAft>
                <a:spcPts val="1200"/>
              </a:spcAft>
            </a:pPr>
            <a:r>
              <a:rPr sz="1700" b="0">
                <a:solidFill>
                  <a:srgbClr val="1A1A1A"/>
                </a:solidFill>
                <a:latin typeface="Meiryo UI"/>
              </a:rPr>
              <a:t>測定は助走後の定常状態 (n=20 シード, 事前登録)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0080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Meiryo UI"/>
              </a:rPr>
              <a:t>© 2026 Kazufumi Furuse — CC BY 4.0 | 出典: github.com/furuse-kazufumi/llcore | qiita.com/furuse-kazufumi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675120" y="2651760"/>
            <a:ext cx="2194560" cy="0"/>
          </a:xfrm>
          <a:prstGeom prst="line">
            <a:avLst/>
          </a:prstGeom>
          <a:ln w="38100">
            <a:solidFill>
              <a:srgbClr val="4F81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8869680" y="2103120"/>
            <a:ext cx="0" cy="548640"/>
          </a:xfrm>
          <a:prstGeom prst="line">
            <a:avLst/>
          </a:prstGeom>
          <a:ln w="38100">
            <a:solidFill>
              <a:srgbClr val="4F81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8869680" y="2103120"/>
            <a:ext cx="2377440" cy="0"/>
          </a:xfrm>
          <a:prstGeom prst="line">
            <a:avLst/>
          </a:prstGeom>
          <a:ln w="38100">
            <a:solidFill>
              <a:srgbClr val="4F81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675120" y="26974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Meiryo UI"/>
              </a:rPr>
              <a:t>κ = 1.0 (安全)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0" y="17830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Meiryo UI"/>
              </a:rPr>
              <a:t>κ = 2.0 — 旧安全個体が発散 = 死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75120" y="3566160"/>
            <a:ext cx="1554480" cy="1051560"/>
          </a:xfrm>
          <a:prstGeom prst="round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00" b="1">
                <a:solidFill>
                  <a:srgbClr val="FFFFFF"/>
                </a:solidFill>
                <a:latin typeface="Meiryo UI"/>
              </a:rPr>
              <a:t>ENDO</a:t>
            </a:r>
            <a:br/>
            <a:r>
              <a:rPr sz="1200" b="1">
                <a:solidFill>
                  <a:srgbClr val="FFFFFF"/>
                </a:solidFill>
                <a:latin typeface="Meiryo UI"/>
              </a:rPr>
              <a:t>自己予見 (証明)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94192" y="3566160"/>
            <a:ext cx="1554480" cy="1051560"/>
          </a:xfrm>
          <a:prstGeom prst="roundRect">
            <a:avLst/>
          </a:prstGeom>
          <a:solidFill>
            <a:srgbClr val="8064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00" b="1">
                <a:solidFill>
                  <a:srgbClr val="FFFFFF"/>
                </a:solidFill>
                <a:latin typeface="Meiryo UI"/>
              </a:rPr>
              <a:t>REVIVE</a:t>
            </a:r>
            <a:br/>
            <a:r>
              <a:rPr sz="1200" b="1">
                <a:solidFill>
                  <a:srgbClr val="FFFFFF"/>
                </a:solidFill>
                <a:latin typeface="Meiryo UI"/>
              </a:rPr>
              <a:t>死→修復→復活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113264" y="3566160"/>
            <a:ext cx="1554480" cy="1051560"/>
          </a:xfrm>
          <a:prstGeom prst="round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00" b="1">
                <a:solidFill>
                  <a:srgbClr val="FFFFFF"/>
                </a:solidFill>
                <a:latin typeface="Meiryo UI"/>
              </a:rPr>
              <a:t>OBSERVE</a:t>
            </a:r>
            <a:br/>
            <a:r>
              <a:rPr sz="1200" b="1">
                <a:solidFill>
                  <a:srgbClr val="FFFFFF"/>
                </a:solidFill>
                <a:latin typeface="Meiryo UI"/>
              </a:rPr>
              <a:t>他者の死から学ぶ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475488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Meiryo UI"/>
              </a:rPr>
              <a:t>+ baseline: NONE (無防備) / EXO (設計時固定ゲート)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109728" cy="566928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A1A1A"/>
                </a:solidFill>
                <a:latin typeface="Meiryo UI"/>
              </a:rPr>
              <a:t>知見 1: 証明は死ぬ前に分かる — 定常死ゼロ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55778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 b="0">
                <a:solidFill>
                  <a:srgbClr val="1A1A1A"/>
                </a:solidFill>
                <a:latin typeface="Meiryo UI"/>
              </a:rPr>
              <a:t>証明 (ENDO) は致命的評価を完全にゼロ化</a:t>
            </a:r>
          </a:p>
          <a:p>
            <a:pPr algn="l">
              <a:spcAft>
                <a:spcPts val="1200"/>
              </a:spcAft>
            </a:pPr>
            <a:r>
              <a:rPr sz="1700" b="0">
                <a:solidFill>
                  <a:srgbClr val="1A1A1A"/>
                </a:solidFill>
                <a:latin typeface="Meiryo UI"/>
              </a:rPr>
              <a:t>観察学習は機能する — が、学んでも死が残る (17.3)。「死んで学ぶ」は構造コスト</a:t>
            </a:r>
          </a:p>
          <a:p>
            <a:pPr algn="l">
              <a:spcAft>
                <a:spcPts val="1200"/>
              </a:spcAft>
            </a:pPr>
            <a:r>
              <a:rPr sz="1700" b="0">
                <a:solidFill>
                  <a:srgbClr val="1A1A1A"/>
                </a:solidFill>
                <a:latin typeface="Meiryo UI"/>
              </a:rPr>
              <a:t>12/12 の事前登録環境 (シード/κ/次元/課題難度) で頑健</a:t>
            </a:r>
          </a:p>
          <a:p>
            <a:pPr algn="l">
              <a:spcAft>
                <a:spcPts val="1200"/>
              </a:spcAft>
            </a:pPr>
            <a:r>
              <a:rPr sz="1700" b="0">
                <a:solidFill>
                  <a:srgbClr val="1A1A1A"/>
                </a:solidFill>
                <a:latin typeface="Meiryo UI"/>
              </a:rPr>
              <a:t>記憶獲得能力は犠牲にならない (最大適応度差 0.7%)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897880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Meiryo UI"/>
              </a:rPr>
              <a:t>p &lt; 0.001 (paired sign-flip, n=20)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40080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Meiryo UI"/>
              </a:rPr>
              <a:t>© 2026 Kazufumi Furuse — CC BY 4.0 | 出典: github.com/furuse-kazufumi/llcore | qiita.com/furuse-kazufumi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675120" y="1737360"/>
          <a:ext cx="5029200" cy="35661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675120" y="54864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666666"/>
                </a:solidFill>
                <a:latin typeface="Meiryo UI"/>
              </a:rPr>
              <a:t>致命的評価数 (定常状態, linear 基質, n=20 平均) — 一次データ: results_viability_ab.json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109728" cy="566928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A1A1A"/>
                </a:solidFill>
                <a:latin typeface="Meiryo UI"/>
              </a:rPr>
              <a:t>知見 2: 復活がないと、経験は記憶にならない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55778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 b="0">
                <a:solidFill>
                  <a:srgbClr val="1A1A1A"/>
                </a:solidFill>
                <a:latin typeface="Meiryo UI"/>
              </a:rPr>
              <a:t>死 = 個体の除去 = 蓄積した経験 (遺伝子) も消える</a:t>
            </a:r>
          </a:p>
          <a:p>
            <a:pPr algn="l">
              <a:spcAft>
                <a:spcPts val="1200"/>
              </a:spcAft>
            </a:pPr>
            <a:r>
              <a:rPr sz="1700" b="0">
                <a:solidFill>
                  <a:srgbClr val="1A1A1A"/>
                </a:solidFill>
                <a:latin typeface="Meiryo UI"/>
              </a:rPr>
              <a:t>REVIVE は無防備と同程度死ぬのに、集団記憶が有意に高い</a:t>
            </a:r>
          </a:p>
          <a:p>
            <a:pPr algn="l">
              <a:spcAft>
                <a:spcPts val="1200"/>
              </a:spcAft>
            </a:pPr>
            <a:r>
              <a:rPr sz="1700" b="0">
                <a:solidFill>
                  <a:srgbClr val="1A1A1A"/>
                </a:solidFill>
                <a:latin typeface="Meiryo UI"/>
              </a:rPr>
              <a:t>Δ = +0.060 (p = 0.0011) — 修復が記憶チャネルを保ったまま力学を安全化</a:t>
            </a:r>
          </a:p>
          <a:p>
            <a:pPr algn="l">
              <a:spcAft>
                <a:spcPts val="1200"/>
              </a:spcAft>
            </a:pPr>
            <a:r>
              <a:rPr sz="1700" b="0">
                <a:solidFill>
                  <a:srgbClr val="1A1A1A"/>
                </a:solidFill>
                <a:latin typeface="Meiryo UI"/>
              </a:rPr>
              <a:t>死が「消滅」でなく「傷」になる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0080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Meiryo UI"/>
              </a:rPr>
              <a:t>© 2026 Kazufumi Furuse — CC BY 4.0 | 出典: github.com/furuse-kazufumi/llcore | qiita.com/furuse-kazufumi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675120" y="1737360"/>
          <a:ext cx="5029200" cy="35661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675120" y="54864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666666"/>
                </a:solidFill>
                <a:latin typeface="Meiryo UI"/>
              </a:rPr>
              <a:t>集団平均適応度 (linear 基質)。縦軸は 0.60 開始 (差の可視化のため; 効果量に注意)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109728" cy="566928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A1A1A"/>
                </a:solidFill>
                <a:latin typeface="Meiryo UI"/>
              </a:rPr>
              <a:t>知見 3: 証明 1 つは、経験的機構の積み重ねに勝る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55778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 b="0">
                <a:solidFill>
                  <a:srgbClr val="1A1A1A"/>
                </a:solidFill>
                <a:latin typeface="Meiryo UI"/>
              </a:rPr>
              <a:t>3 機構の全 8 組合せを同条件で比較 (2³ factorial)</a:t>
            </a:r>
          </a:p>
          <a:p>
            <a:pPr algn="l">
              <a:spcAft>
                <a:spcPts val="1200"/>
              </a:spcAft>
            </a:pPr>
            <a:r>
              <a:rPr sz="1700" b="0">
                <a:solidFill>
                  <a:srgbClr val="1A1A1A"/>
                </a:solidFill>
                <a:latin typeface="Meiryo UI"/>
              </a:rPr>
              <a:t>証明 (E) を含む 4 組合せ: すべて死 0.0</a:t>
            </a:r>
          </a:p>
          <a:p>
            <a:pPr algn="l">
              <a:spcAft>
                <a:spcPts val="1200"/>
              </a:spcAft>
            </a:pPr>
            <a:r>
              <a:rPr sz="1700" b="0">
                <a:solidFill>
                  <a:srgbClr val="1A1A1A"/>
                </a:solidFill>
                <a:latin typeface="Meiryo UI"/>
              </a:rPr>
              <a:t>証明なしの最良 = 復活+観察 (6.2)。単独より良いが、0 には届かない</a:t>
            </a:r>
          </a:p>
          <a:p>
            <a:pPr algn="l">
              <a:spcAft>
                <a:spcPts val="1200"/>
              </a:spcAft>
            </a:pPr>
            <a:r>
              <a:rPr sz="1700" b="0">
                <a:solidFill>
                  <a:srgbClr val="1A1A1A"/>
                </a:solidFill>
                <a:latin typeface="Meiryo UI"/>
              </a:rPr>
              <a:t>証明があると経験的機構は完全に冗長化 (交互作用 p=0.0003/0.0045)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0080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Meiryo UI"/>
              </a:rPr>
              <a:t>© 2026 Kazufumi Furuse — CC BY 4.0 | 出典: github.com/furuse-kazufumi/llcore | qiita.com/furuse-kazufumi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675120" y="1737360"/>
          <a:ext cx="5029200" cy="35661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675120" y="54864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666666"/>
                </a:solidFill>
                <a:latin typeface="Meiryo UI"/>
              </a:rPr>
              <a:t>致命的評価数 (2³ factorial, linear, n=20 平均)。E=証明 / R=復活 / O=観察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109728" cy="566928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A1A1A"/>
                </a:solidFill>
                <a:latin typeface="Meiryo UI"/>
              </a:rPr>
              <a:t>知見 4 (限界): 証明は前提が正しい時だけ健全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55778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 b="0">
                <a:solidFill>
                  <a:srgbClr val="1A1A1A"/>
                </a:solidFill>
                <a:latin typeface="Meiryo UI"/>
              </a:rPr>
              <a:t>検証器の環境認識を壊すと、証明は致命域を「安全」と誤認する</a:t>
            </a:r>
          </a:p>
          <a:p>
            <a:pPr algn="l">
              <a:spcAft>
                <a:spcPts val="1200"/>
              </a:spcAft>
            </a:pPr>
            <a:r>
              <a:rPr sz="1700" b="0">
                <a:solidFill>
                  <a:srgbClr val="1A1A1A"/>
                </a:solidFill>
                <a:latin typeface="Meiryo UI"/>
              </a:rPr>
              <a:t>観測可能な証拠だけで証明⇔経験を切替える信頼度学習は機能する (図)</a:t>
            </a:r>
          </a:p>
          <a:p>
            <a:pPr algn="l">
              <a:spcAft>
                <a:spcPts val="1200"/>
              </a:spcAft>
            </a:pPr>
            <a:r>
              <a:rPr sz="1700" b="0">
                <a:solidFill>
                  <a:srgbClr val="1A1A1A"/>
                </a:solidFill>
                <a:latin typeface="Meiryo UI"/>
              </a:rPr>
              <a:t>ただし得をするのは前提違反が高くつく環境のみ — 仮説の一部不成立をそのまま報告</a:t>
            </a:r>
          </a:p>
          <a:p>
            <a:pPr algn="l">
              <a:spcAft>
                <a:spcPts val="1200"/>
              </a:spcAft>
            </a:pPr>
            <a:r>
              <a:rPr sz="1700" b="0">
                <a:solidFill>
                  <a:srgbClr val="1A1A1A"/>
                </a:solidFill>
                <a:latin typeface="Meiryo UI"/>
              </a:rPr>
              <a:t>次の問い: 証明の前提を誰が守るのか (premise monitoring)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897880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Meiryo UI"/>
              </a:rPr>
              <a:t>PoC スケール (スカラー遺伝子, n=20) — 実 LLM スケールは未証明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40080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Meiryo UI"/>
              </a:rPr>
              <a:t>© 2026 Kazufumi Furuse — CC BY 4.0 | 出典: github.com/furuse-kazufumi/llcore | qiita.com/furuse-kazufumi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1783080"/>
            <a:ext cx="5029200" cy="777240"/>
          </a:xfrm>
          <a:prstGeom prst="roundRect">
            <a:avLst/>
          </a:prstGeom>
          <a:solidFill>
            <a:srgbClr val="D996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00" b="0">
                <a:solidFill>
                  <a:srgbClr val="1A1A1A"/>
                </a:solidFill>
                <a:latin typeface="Meiryo UI"/>
              </a:rPr>
              <a:t>検証器が κ を 40% 過小推定 (premise 破壊)</a:t>
            </a:r>
            <a:br/>
            <a:r>
              <a:rPr sz="1200" b="0">
                <a:solidFill>
                  <a:srgbClr val="1A1A1A"/>
                </a:solidFill>
                <a:latin typeface="Meiryo UI"/>
              </a:rPr>
              <a:t>→ 証明が嘘をつく regime を人工的に構成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223760" y="2743200"/>
          <a:ext cx="3931920" cy="2468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675120" y="54864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666666"/>
                </a:solidFill>
                <a:latin typeface="Meiryo UI"/>
              </a:rPr>
              <a:t>META の証明への信頼度 (平均, linear)。「許可したのに死んだ」だけから regime を追従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109728" cy="566928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A1A1A"/>
                </a:solidFill>
                <a:latin typeface="Meiryo UI"/>
              </a:rPr>
              <a:t>研究地図: 最近接研究との違い (一次ソース検証済み)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55778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 b="0">
                <a:solidFill>
                  <a:srgbClr val="1A1A1A"/>
                </a:solidFill>
                <a:latin typeface="Meiryo UI"/>
              </a:rPr>
              <a:t>SGM: 統計的 certificate × 離散タスク性能 — 確率保証・捏造耐性なし</a:t>
            </a:r>
          </a:p>
          <a:p>
            <a:pPr algn="l">
              <a:spcAft>
                <a:spcPts val="1200"/>
              </a:spcAft>
            </a:pPr>
            <a:r>
              <a:rPr sz="1700" b="0">
                <a:solidFill>
                  <a:srgbClr val="1A1A1A"/>
                </a:solidFill>
                <a:latin typeface="Meiryo UI"/>
              </a:rPr>
              <a:t>SEVerA: Dafny 論理契約の sound 検証 — 対象は離散 I/O</a:t>
            </a:r>
          </a:p>
          <a:p>
            <a:pPr algn="l">
              <a:spcAft>
                <a:spcPts val="1200"/>
              </a:spcAft>
            </a:pPr>
            <a:r>
              <a:rPr sz="1700" b="0">
                <a:solidFill>
                  <a:srgbClr val="1A1A1A"/>
                </a:solidFill>
                <a:latin typeface="Meiryo UI"/>
              </a:rPr>
              <a:t>PAC limits (Wang+): 汎化保証 — 安定性の保証ではない</a:t>
            </a:r>
          </a:p>
          <a:p>
            <a:pPr algn="l">
              <a:spcAft>
                <a:spcPts val="1200"/>
              </a:spcAft>
            </a:pPr>
            <a:r>
              <a:rPr sz="1700" b="0">
                <a:solidFill>
                  <a:srgbClr val="1A1A1A"/>
                </a:solidFill>
                <a:latin typeface="Meiryo UI"/>
              </a:rPr>
              <a:t>右上の象限 (証明 × 連続記憶力学) を llcore が PoC 占有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0080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Meiryo UI"/>
              </a:rPr>
              <a:t>© 2026 Kazufumi Furuse — CC BY 4.0 | 出典: github.com/furuse-kazufumi/llcore | qiita.com/furuse-kazufumi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0" y="150876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Meiryo UI"/>
              </a:rPr>
              <a:t>対象 ↑ 連続な内部力学 / ↓ 離散タスク・成果物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0" y="502920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Meiryo UI"/>
              </a:rPr>
              <a:t>保証: ← 統計的/経験的 | 健全な証明 (演繹) 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86600" y="1828800"/>
            <a:ext cx="2103120" cy="155448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00" b="0">
                <a:solidFill>
                  <a:srgbClr val="666666"/>
                </a:solidFill>
                <a:latin typeface="Meiryo UI"/>
              </a:rPr>
              <a:t>(空白)</a:t>
            </a:r>
            <a:br/>
            <a:r>
              <a:rPr sz="1100" b="0">
                <a:solidFill>
                  <a:srgbClr val="666666"/>
                </a:solidFill>
                <a:latin typeface="Meiryo UI"/>
              </a:rPr>
              <a:t>統計 × 連続力学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299448" y="1828800"/>
            <a:ext cx="2103120" cy="1554480"/>
          </a:xfrm>
          <a:prstGeom prst="round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00" b="1">
                <a:solidFill>
                  <a:srgbClr val="FFFFFF"/>
                </a:solidFill>
                <a:latin typeface="Meiryo UI"/>
              </a:rPr>
              <a:t>llcore (PoC)</a:t>
            </a:r>
            <a:br/>
            <a:r>
              <a:rPr sz="1200" b="1">
                <a:solidFill>
                  <a:srgbClr val="FFFFFF"/>
                </a:solidFill>
                <a:latin typeface="Meiryo UI"/>
              </a:rPr>
              <a:t>証明 × 連続記憶力学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086600" y="3493008"/>
            <a:ext cx="2103120" cy="155448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00" b="0">
                <a:solidFill>
                  <a:srgbClr val="1A1A1A"/>
                </a:solidFill>
                <a:latin typeface="Meiryo UI"/>
              </a:rPr>
              <a:t>SGM (統計的GM)</a:t>
            </a:r>
            <a:br/>
            <a:r>
              <a:rPr sz="1100" b="0">
                <a:solidFill>
                  <a:srgbClr val="1A1A1A"/>
                </a:solidFill>
                <a:latin typeface="Meiryo UI"/>
              </a:rPr>
              <a:t>PAC limits (Wang+)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299448" y="3493008"/>
            <a:ext cx="2103120" cy="1554480"/>
          </a:xfrm>
          <a:prstGeom prst="roundRect">
            <a:avLst/>
          </a:prstGeom>
          <a:solidFill>
            <a:srgbClr val="DCE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00" b="0">
                <a:solidFill>
                  <a:srgbClr val="1A1A1A"/>
                </a:solidFill>
                <a:latin typeface="Meiryo UI"/>
              </a:rPr>
              <a:t>SEVerA</a:t>
            </a:r>
            <a:br/>
            <a:r>
              <a:rPr sz="1100" b="0">
                <a:solidFill>
                  <a:srgbClr val="1A1A1A"/>
                </a:solidFill>
                <a:latin typeface="Meiryo UI"/>
              </a:rPr>
              <a:t>Dafny 論理契約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53492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666666"/>
                </a:solidFill>
                <a:latin typeface="Meiryo UI"/>
              </a:rPr>
              <a:t>3 論文とも本文を一次取得して確認 (敵対検証付き)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109728" cy="566928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A1A1A"/>
                </a:solidFill>
                <a:latin typeface="Meiryo UI"/>
              </a:rPr>
              <a:t>利用について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60350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 b="0">
                <a:solidFill>
                  <a:srgbClr val="1A1A1A"/>
                </a:solidFill>
                <a:latin typeface="Meiryo UI"/>
              </a:rPr>
              <a:t>本スライド: CC BY 4.0 — 出典明示で、企業内研修・技術調査・製品検討に利用可</a:t>
            </a:r>
          </a:p>
          <a:p>
            <a:pPr algn="l">
              <a:spcAft>
                <a:spcPts val="1200"/>
              </a:spcAft>
            </a:pPr>
            <a:r>
              <a:rPr sz="1700" b="0">
                <a:solidFill>
                  <a:srgbClr val="1A1A1A"/>
                </a:solidFill>
                <a:latin typeface="Meiryo UI"/>
              </a:rPr>
              <a:t>コード/論文 draft: Apache-2.0 + Commercial dual license</a:t>
            </a:r>
          </a:p>
          <a:p>
            <a:pPr algn="l">
              <a:spcAft>
                <a:spcPts val="1200"/>
              </a:spcAft>
            </a:pPr>
            <a:r>
              <a:rPr sz="1700" b="0">
                <a:solidFill>
                  <a:srgbClr val="1A1A1A"/>
                </a:solidFill>
                <a:latin typeface="Meiryo UI"/>
              </a:rPr>
              <a:t>クローズド統合・SLA・NDA 相談 = 商用窓口: kazufumi@furuse.work</a:t>
            </a:r>
          </a:p>
          <a:p>
            <a:pPr algn="l">
              <a:spcAft>
                <a:spcPts val="1200"/>
              </a:spcAft>
            </a:pPr>
            <a:r>
              <a:rPr sz="1700" b="0">
                <a:solidFill>
                  <a:srgbClr val="1A1A1A"/>
                </a:solidFill>
                <a:latin typeface="Meiryo UI"/>
              </a:rPr>
              <a:t>出典表記例: 「Kazufumi Furuse, llcore (2026), github.com/furuse-kazufumi/llcore」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0080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Meiryo UI"/>
              </a:rPr>
              <a:t>© 2026 Kazufumi Furuse — CC BY 4.0 | 出典: github.com/furuse-kazufumi/llcore | qiita.com/furuse-kazufumi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40880" y="2011680"/>
            <a:ext cx="4206240" cy="822960"/>
          </a:xfrm>
          <a:prstGeom prst="round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500" b="1">
                <a:solidFill>
                  <a:srgbClr val="FFFFFF"/>
                </a:solidFill>
                <a:latin typeface="Meiryo UI"/>
              </a:rPr>
              <a:t>github.com/furuse-kazufumi/llcore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40880" y="3017520"/>
            <a:ext cx="4206240" cy="822960"/>
          </a:xfrm>
          <a:prstGeom prst="roundRect">
            <a:avLst/>
          </a:prstGeom>
          <a:solidFill>
            <a:srgbClr val="DCE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500" b="0">
                <a:solidFill>
                  <a:srgbClr val="1A1A1A"/>
                </a:solidFill>
                <a:latin typeface="Meiryo UI"/>
              </a:rPr>
              <a:t>qiita.com/furuse-kazufumi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40880" y="4023360"/>
            <a:ext cx="4206240" cy="822960"/>
          </a:xfrm>
          <a:prstGeom prst="roundRect">
            <a:avLst/>
          </a:prstGeom>
          <a:solidFill>
            <a:srgbClr val="DCE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400" b="0">
                <a:solidFill>
                  <a:srgbClr val="1A1A1A"/>
                </a:solidFill>
                <a:latin typeface="Meiryo UI"/>
              </a:rPr>
              <a:t>商用ライセンス窓口</a:t>
            </a:r>
            <a:br/>
            <a:r>
              <a:rPr sz="1400" b="0">
                <a:solidFill>
                  <a:srgbClr val="1A1A1A"/>
                </a:solidFill>
                <a:latin typeface="Meiryo UI"/>
              </a:rPr>
              <a:t>kazufumi@furuse.work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