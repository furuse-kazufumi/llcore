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D99694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cat>
            <c:strRef>
              <c:f>Sheet1!$A$2:$A$5</c:f>
              <c:strCache>
                <c:ptCount val="4"/>
                <c:pt idx="0">
                  <c:v>NONE
no gate</c:v>
                </c:pt>
                <c:pt idx="1">
                  <c:v>OBSERVE
observational</c:v>
                </c:pt>
                <c:pt idx="2">
                  <c:v>EXO
frozen gate</c:v>
                </c:pt>
                <c:pt idx="3">
                  <c:v>ENDO
proof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27.2</c:v>
                </c:pt>
                <c:pt idx="1">
                  <c:v>17.3</c:v>
                </c:pt>
                <c:pt idx="2">
                  <c:v>10.2</c:v>
                </c:pt>
                <c:pt idx="3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8064A2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NONE
death = erasure</c:v>
                </c:pt>
                <c:pt idx="1">
                  <c:v>REVIVE
die → revive</c:v>
                </c:pt>
                <c:pt idx="2">
                  <c:v>ENDO
proof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0.649</c:v>
                </c:pt>
                <c:pt idx="1">
                  <c:v>0.708</c:v>
                </c:pt>
                <c:pt idx="2">
                  <c:v>0.75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8"/>
          <c:min val="0.6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7F7F7F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8064A2"/>
              </a:solidFill>
            </c:spPr>
          </c:dPt>
          <c:dPt>
            <c:idx val="3"/>
            <c:spPr>
              <a:solidFill>
                <a:srgbClr val="9BBB59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NONE</c:v>
                </c:pt>
                <c:pt idx="1">
                  <c:v>O</c:v>
                </c:pt>
                <c:pt idx="2">
                  <c:v>R</c:v>
                </c:pt>
                <c:pt idx="3">
                  <c:v>R+O</c:v>
                </c:pt>
                <c:pt idx="4">
                  <c:v>all 4 E-combos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27.2</c:v>
                </c:pt>
                <c:pt idx="1">
                  <c:v>17.3</c:v>
                </c:pt>
                <c:pt idx="2">
                  <c:v>18.8</c:v>
                </c:pt>
                <c:pt idx="3">
                  <c:v>6.2</c:v>
                </c:pt>
                <c:pt idx="4">
                  <c:v>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spPr>
              <a:solidFill>
                <a:srgbClr val="9BBB59"/>
              </a:solidFill>
            </c:spPr>
          </c:dPt>
          <c:dPt>
            <c:idx val="1"/>
            <c:spPr>
              <a:solidFill>
                <a:srgbClr val="D99694"/>
              </a:solidFill>
            </c:spPr>
          </c:dPt>
          <c:cat>
            <c:strRef>
              <c:f>Sheet1!$A$2:$A$3</c:f>
              <c:strCache>
                <c:ptCount val="2"/>
                <c:pt idx="0">
                  <c:v>GOOD blocks
(premise holds)</c:v>
                </c:pt>
                <c:pt idx="1">
                  <c:v>BAD blocks
(premise broken)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0.91</c:v>
                </c:pt>
                <c:pt idx="1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6666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eiryo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16459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Meiryo UI"/>
              </a:rPr>
              <a:t>Guarding Self-Evolving AI with Proofs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F81BD"/>
                </a:solidFill>
                <a:latin typeface="Meiryo UI"/>
              </a:rPr>
              <a:t>llcore research findings 2026 — verified neural evolution on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Kazufumi Furuse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github.com/furuse-kazufumi/llcore (paper draft + all experiment code/data public)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Meiryo UI"/>
              </a:rPr>
              <a:t>These slides: CC BY 4.0 — commercial use permitted with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Problem: on what grounds may a self-evolving AI admit its own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AI now evolves its own core (memory, dynamics)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Mainstream (DGM / SEAL) = empirical gates: post-hoc scores &amp; past failures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Structural weakness: (1) learns by dying (2) Goodhart-able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llcore: narrow the property, and a proof can gate before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Meiryo UI"/>
              </a:rPr>
              <a:t>Empirical gate (DGM/SEAL 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1325880" cy="6858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mutate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217170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75320" y="1828800"/>
            <a:ext cx="1325880" cy="68580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evaluate = run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(pays deaths)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01200" y="217170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75520" y="1828800"/>
            <a:ext cx="1325880" cy="68580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post-hoc score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(Goodhart-able)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82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1BD"/>
                </a:solidFill>
                <a:latin typeface="Meiryo UI"/>
              </a:rPr>
              <a:t>Proof gate (llcore)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566160"/>
            <a:ext cx="1325880" cy="68580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mutate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0" y="390906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3566160"/>
            <a:ext cx="1325880" cy="68580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prove ρ&lt;1</a:t>
            </a:r>
            <a:br/>
            <a:r>
              <a:rPr sz="1100" b="1">
                <a:solidFill>
                  <a:srgbClr val="FFFFFF"/>
                </a:solidFill>
                <a:latin typeface="Meiryo UI"/>
              </a:rPr>
              <a:t>(before eval)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0" y="3909060"/>
            <a:ext cx="274320" cy="0"/>
          </a:xfrm>
          <a:prstGeom prst="line">
            <a:avLst/>
          </a:prstGeom>
          <a:ln w="28575">
            <a:solidFill>
              <a:srgbClr val="66666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75520" y="3566160"/>
            <a:ext cx="1325880" cy="685800"/>
          </a:xfrm>
          <a:prstGeom prst="round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evaluate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(no deaths)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Unprovable changes rejected before evaluation (fail-closed)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Approach: a sound contraction-certifier gate (fail-closed)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Certified property = contraction (ρ &lt; 1): internal state cannot diverge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Proofs are theorem-derived = non-fabricable (unlike scores)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Gated in-loop, before evaluation — 17-19x cheaper than post-hoc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All experiments pre-registered; negatives disclosed at full 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2024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closed-form ∞-norm — O(n²), no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78892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vertex 2-norm (SVD)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657600"/>
            <a:ext cx="3931920" cy="6400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0">
                <a:solidFill>
                  <a:srgbClr val="1A1A1A"/>
                </a:solidFill>
                <a:latin typeface="Meiryo UI"/>
              </a:rPr>
              <a:t>Lyapunov SDP (CLARABEL)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617720"/>
            <a:ext cx="3931920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no proof → rejected (fail-closed)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Three sound certifier rungs (stronger downward)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Testbed: a lethal environment x three roads from experience to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The environment steps κ by 2x → previously-safe genes diverge = death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Death is a real, unavoidable threat (cannot be routed around)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Measured in the steady state after warm-up (n=20 seeds, pre-registered)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0" y="2651760"/>
            <a:ext cx="2194560" cy="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869680" y="2103120"/>
            <a:ext cx="0" cy="54864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869680" y="2103120"/>
            <a:ext cx="2377440" cy="0"/>
          </a:xfrm>
          <a:prstGeom prst="line">
            <a:avLst/>
          </a:prstGeom>
          <a:ln w="38100">
            <a:solidFill>
              <a:srgbClr val="4F81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κ = 1.0 (safe)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eiryo UI"/>
              </a:rPr>
              <a:t>κ = 2.0 — old-safe genes diverge = death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566160"/>
            <a:ext cx="1554480" cy="105156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ENDO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foresight (proof)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3566160"/>
            <a:ext cx="1554480" cy="1051560"/>
          </a:xfrm>
          <a:prstGeom prst="round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REVIVE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die→repair→revive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13264" y="3566160"/>
            <a:ext cx="1554480" cy="105156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OBSERVE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learn from others' deaths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Meiryo UI"/>
              </a:rPr>
              <a:t>+ baselines: NONE (no gate) / EXO (design-time frozen gate)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Finding 1: proofs know before dying — zero steady-state deaths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The proof (ENDO) eliminates lethal evaluations entirely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Observational learning works — but deaths remain (17.3). Learning-by-dying is structural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Robust in 12/12 pre-registered configurations (seed/κ/dimension/difficulty)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Memory capability is not sacrificed (worst fitness gap 0.7%)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p &lt; 0.001 (paired sign-flip, n=20)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Lethal evaluations (steady state, linear substrate, n=20 mean) — data: results_viability_ab.json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Finding 2: without revival, experience does not become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Death removes the individual — and erases its accumulated experience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REVIVE dies about as often as no-gate, yet preserves more population memory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Δ = +0.060 (p = 0.0011) — repair preserves the memory channel while safing the dynamics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Death becomes a scar, not a 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Population-mean fitness (linear). Y-axis starts at 0.60 (to make the gap visible; mind the effect size)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Finding 3: one proof beats stacked empirical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All 8 combinations compared under identical conditions (2^3 factorial)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All 4 proof-containing combos: zero deaths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Best proof-free combo = revival+observation (6.2) — better than alone, never zero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With the proof, empirical mechanisms become redundant (interaction p=0.0003/0.0045)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737360"/>
          <a:ext cx="50292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Lethal evaluations (2^3 factorial, linear, n=20 mean). E=proof / R=revival / O=observation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Finding 4 (limits): a proof is only sound while its premises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Break the verifier's sensing, and the certificate admits a lethal band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 trust controller on observable evidence does track the regime (figure)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But hedging pays only where violations are costly — a failed hypothesis is reported as-is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Open question: who certifies the certifier's premises?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PoC scale (scalar genes, n=20) — not yet shown at real-LLM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5029200" cy="777240"/>
          </a:xfrm>
          <a:prstGeom prst="roundRect">
            <a:avLst/>
          </a:prstGeom>
          <a:solidFill>
            <a:srgbClr val="D99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0">
                <a:solidFill>
                  <a:srgbClr val="1A1A1A"/>
                </a:solidFill>
                <a:latin typeface="Meiryo UI"/>
              </a:rPr>
              <a:t>Verifier under-senses κ by 40% (premise broken)</a:t>
            </a:r>
            <a:br/>
            <a:r>
              <a:rPr sz="1200" b="0">
                <a:solidFill>
                  <a:srgbClr val="1A1A1A"/>
                </a:solidFill>
                <a:latin typeface="Meiryo UI"/>
              </a:rPr>
              <a:t>→ a regime where the proof lies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223760" y="2743200"/>
          <a:ext cx="39319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751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META's trust in the proof (mean, linear). Tracks the regime from admitted-then-died evidence alone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Map: how this differs from the nearest work (primary sources verified)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SGM: statistical certificate over discrete task scores — probabilistic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SEVerA: sound Dafny logical contracts — discrete I/O artifacts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PAC limits (Wang+): generalization bounds — not stability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llcore occupies the top-right quadrant (proof x continuous memory dynamics) at PoC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object: ↑ continuous internal dynamics / ↓ discrete tasks &amp;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guarantee: ← statistical/empirical | sound deductive proof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1828800"/>
            <a:ext cx="210312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666666"/>
                </a:solidFill>
                <a:latin typeface="Meiryo UI"/>
              </a:rPr>
              <a:t>(open)</a:t>
            </a:r>
            <a:br/>
            <a:r>
              <a:rPr sz="1100" b="0">
                <a:solidFill>
                  <a:srgbClr val="666666"/>
                </a:solidFill>
                <a:latin typeface="Meiryo UI"/>
              </a:rPr>
              <a:t>statistical x continuous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9448" y="1828800"/>
            <a:ext cx="2103120" cy="15544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llcore (PoC)</a:t>
            </a:r>
            <a:br/>
            <a:r>
              <a:rPr sz="1200" b="1">
                <a:solidFill>
                  <a:srgbClr val="FFFFFF"/>
                </a:solidFill>
                <a:latin typeface="Meiryo UI"/>
              </a:rPr>
              <a:t>proof x continuous memory dynamics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493008"/>
            <a:ext cx="2103120" cy="1554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SGM (statistical GM)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PAC limits (Wang+)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9448" y="3493008"/>
            <a:ext cx="2103120" cy="155448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1A1A1A"/>
                </a:solidFill>
                <a:latin typeface="Meiryo UI"/>
              </a:rPr>
              <a:t>SEVerA</a:t>
            </a:r>
            <a:br/>
            <a:r>
              <a:rPr sz="1100" b="0">
                <a:solidFill>
                  <a:srgbClr val="1A1A1A"/>
                </a:solidFill>
                <a:latin typeface="Meiryo UI"/>
              </a:rPr>
              <a:t>Dafny logical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349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Meiryo UI"/>
              </a:rPr>
              <a:t>All three verified against primary sources (with adversarial review)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109728" cy="5669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A1A1A"/>
                </a:solidFill>
                <a:latin typeface="Meiryo UI"/>
              </a:rPr>
              <a:t>Using this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035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These slides: CC BY 4.0 — corporate training, tech scouting, product evaluation OK with attribution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Code / paper draft: Apache-2.0 + Commercial dual license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Closed-source integration / SLA / NDA consulting: kazufumi@furuse.work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A1A1A"/>
                </a:solidFill>
                <a:latin typeface="Meiryo UI"/>
              </a:rPr>
              <a:t>Attribution: "Kazufumi Furuse, llcore (2026), github.com/furuse-kazufumi/llcore"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eiryo UI"/>
              </a:rPr>
              <a:t>© 2026 Kazufumi Furuse — CC BY 4.0 | Source: github.com/furuse-kazufumi/llcore | qiita.com/furuse-kazufumi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2011680"/>
            <a:ext cx="4206240" cy="82296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github.com/furuse-kazufumi/llcore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017520"/>
            <a:ext cx="4206240" cy="82296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0">
                <a:solidFill>
                  <a:srgbClr val="1A1A1A"/>
                </a:solidFill>
                <a:latin typeface="Meiryo UI"/>
              </a:rPr>
              <a:t>qiita.com/furuse-kazufumi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023360"/>
            <a:ext cx="4206240" cy="822960"/>
          </a:xfrm>
          <a:prstGeom prst="roundRect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400" b="0">
                <a:solidFill>
                  <a:srgbClr val="1A1A1A"/>
                </a:solidFill>
                <a:latin typeface="Meiryo UI"/>
              </a:rPr>
              <a:t>Commercial licensing</a:t>
            </a:r>
            <a:br/>
            <a:r>
              <a:rPr sz="1400" b="0">
                <a:solidFill>
                  <a:srgbClr val="1A1A1A"/>
                </a:solidFill>
                <a:latin typeface="Meiryo UI"/>
              </a:rPr>
              <a:t>kazufumi@furuse.work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